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5120640" cy="365760"/>
          </a:xfrm>
          <a:prstGeom prst="roundRect">
            <a:avLst/>
          </a:prstGeom>
          <a:solidFill>
            <a:srgbClr val="172554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AZINHACK 2026 · INNOVATION &amp; CONSUMER 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30352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CHECKOUT RADAR</a:t>
            </a:r>
          </a:p>
          <a:p>
            <a:pPr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Outside-In Checkout Flow Auditor &amp; CCPA Dark Pattern Detector</a:t>
            </a:r>
          </a:p>
          <a:p>
            <a:pPr>
              <a:defRPr sz="1300">
                <a:solidFill>
                  <a:srgbClr val="CBD5E1"/>
                </a:solidFill>
                <a:latin typeface="Arial"/>
              </a:defRPr>
            </a:pPr>
            <a:r>
              <a:t>Deploying autonomous TinyFish browser agents across controlled condition matrices to turn subjective dark pattern claims into reproducible, screenshot-backed empirical proof.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2240280" cy="6858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114 / 114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Tests Passing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429768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4389120"/>
            <a:ext cx="2240280" cy="6858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3 / 3 Verified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Demo Flows 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2240280" cy="6858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SHA-256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Cryptographic Custody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530352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5394960"/>
            <a:ext cx="2240280" cy="6858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2000" b="1">
                <a:solidFill>
                  <a:srgbClr val="8B5CF6"/>
                </a:solidFill>
              </a:defRPr>
            </a:pPr>
            <a:r>
              <a:t>$0.00 Cost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Deterministic Offline Mock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822960"/>
            <a:ext cx="5212080" cy="53035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1_landing_desktop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896112"/>
            <a:ext cx="5065776" cy="5157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618134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Checkout Radar Web Platform: Overview, CCPA Regulatory Context, and 1-Click Interactive Demonstrations.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1. PROBLEM STATEMENT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The Hidden Fee Epidemic &amp; The Outside-In Evidence Gap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Consumers face systemic late-stage fee disclosure without any tooling for admissible legal proof.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EF4444"/>
                </a:solidFill>
              </a:defRPr>
            </a:pPr>
            <a:r>
              <a:t>💸 LATE-STAGE INFLATION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The Drip Pricing Trap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Surge fees, handling charges, and packaging costs appear only on the final payment screen after 15 minutes of checkout navigation.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6440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F59E0B"/>
                </a:solidFill>
              </a:defRPr>
            </a:pPr>
            <a:r>
              <a:t>⚖️ STATUTORY MANDATE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CCPA 2023 Guidelines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Notified on 30 Nov 2023 under Consumer Protection Act 2019: Annex 1.8 strictly bans Drip Pricing; Annex 1.2 bans Basket Sneaking.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B82F6"/>
                </a:solidFill>
              </a:defRPr>
            </a:pPr>
            <a:r>
              <a:t>🔍 THE EVIDENCE GAP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Lack of Empirical Outside-In Tooling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Existing compliance tools serve platform teams. Consumers, researchers, and journalists cannot capture legally admissible, reproducible proof.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_indicators_detected_viewport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19072"/>
            <a:ext cx="5065776" cy="40599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90702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Real Checkout Radar detection of a ₹5.00 Handling Fee concealed on product and cart pages, revealed only at checkout summary.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2. PROPOSED SOLUTION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Matched-Pair Differential Auditing Engine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Not a scraper: controlled behavioral experiments that isolate fee triggers while holding controls fixed.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91640"/>
            <a:ext cx="2295144" cy="685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</a:defRPr>
            </a:pPr>
            <a:r>
              <a:t>📍 Location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Tier-1 Metro vs Tier-2/3 Pincodes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2295144" cy="685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B82F6"/>
                </a:solidFill>
              </a:defRPr>
            </a:pPr>
            <a:r>
              <a:t>👤 Session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Fresh Guest vs Returning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691640"/>
            <a:ext cx="2295144" cy="685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</a:defRPr>
            </a:pPr>
            <a:r>
              <a:t>🛒 Cart Threshold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Above vs Below Free-Shipping Tier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15984" y="1691640"/>
            <a:ext cx="2295144" cy="685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8B5CF6"/>
                </a:solidFill>
              </a:defRPr>
            </a:pPr>
            <a:r>
              <a:t>⏱️ Temporal Drift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Time t0 vs Re-observation at t1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5120640" cy="34747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663440" cy="3108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</a:defRPr>
            </a:pPr>
            <a:r>
              <a:t>The Cart Invariant Principle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✓  Separates Recipe Family from Cart Instance: Adding items to reach free shipping moves the subtotal without changing unit prices.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✓  Zero False Alarms: Standard small-cart delivery rules are correctly reported as legitimate policy rules (SMALL_CART_RULE), not deceptive price discrimination.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✓  Integer Minor-Unit Math: Reconciles Subtotal + Charges + Taxes - Discounts == Payable in integer paise (₹0.01).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✓  Deterministic Diff Engine: Compares runs differing in exactly one requested dimension.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212080" cy="34747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6_real_merchant_gallery_viewport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724912"/>
            <a:ext cx="5065776" cy="3328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618134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3-Stage Visual Evidence Gallery: Product Page, Cart Drawer, and Checkout Summary with cryptographic SHA-256 digests.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3. TARGET USERS OR USE CASE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Empowering the Consumer Protection Ecosystem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Three key personas benefiting from automated outside-in checkout transparency.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8BDF8"/>
                </a:solidFill>
              </a:defRPr>
            </a:pPr>
            <a:r>
              <a:t>01 · CONSUMERS &amp; ADVOCATES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1-Click NCH Grievance Filing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Reduces National Consumer Helpline complaint preparation from 45 minutes to 30 seconds with pre-filled CCPA citations and SHA-256 evidence links.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6440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3B82F6"/>
                </a:solidFill>
              </a:defRPr>
            </a:pPr>
            <a:r>
              <a:t>02 · INVESTIGATIVE JOURNALISTS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Empirical Exposés &amp; Datasets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Provides reproducible, exportable HTML dossiers backed by timestamped logs to expose predatory pricing, surge fees, and geographic discrimination.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5120640" cy="13716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4754880" cy="11521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0B981"/>
                </a:solidFill>
              </a:defRPr>
            </a:pPr>
            <a:r>
              <a:t>03 · ENTERPRISE COMPLIANCE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Pre-Regulatory Regression Testing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Enables retail brands to audit their own checkout funnels and third-party plugins before regulatory scrutiny or customer backlash.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8_complaint_draft_modal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19072"/>
            <a:ext cx="5065776" cy="40599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590702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Actionable Grievance Generation: Pre-filled National Consumer Helpline complaint draft with statutory CCPA citations and evidence links.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4. ROLE OF MACHINE LEARNING OR AI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Hybrid Architecture: Deterministic First, AI Last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AI navigates and contextualizes; deterministic engines compute mathematical proof.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754880" cy="3931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8BDF8"/>
                </a:solidFill>
              </a:defRPr>
            </a:pPr>
            <a:r>
              <a:t>Autonomous Web Agent AI (TinyFish)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Complex Visual DOM Navigation: Navigates modern React, Vue, Shopify, and headless checkouts without custom site-specific scrapers.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Human-Like Emulation: Solves variant selection, opens cart drawers, fills guest address forms, and handles modals.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Hardened Safety Invariant: Negative prompts enforce a strict STOP BEFORE PAYMENT authorization boundary.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Zero Hallucination in Pricing: Agent captures raw 1280×720 viewports and itemized DOM strings; does not invent fees.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74519"/>
            <a:ext cx="4754880" cy="39319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B82F6"/>
                </a:solidFill>
              </a:defRPr>
            </a:pPr>
            <a:r>
              <a:t>Schema-Guarded LLM Contextualizer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Downstream Explanation Only: LLM never detects or invents findings; it only translates candidate diffs into statutory explanations.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Strict Non-Judicial Filter: Intercepts prohibited adjudicative terms ('guilty', 'unlawful', 'convicted') while preserving disclaimers.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Evidence Grounding Engine: Rejects claims of fee absence unless substantiated by explicit not_observed_verified records.</a:t>
            </a:r>
          </a:p>
          <a:p>
            <a:pPr>
              <a:spcAft>
                <a:spcPts val="1000"/>
              </a:spcAft>
              <a:defRPr sz="1200">
                <a:solidFill>
                  <a:srgbClr val="CBD5E1"/>
                </a:solidFill>
              </a:defRPr>
            </a:pPr>
            <a:r>
              <a:t>✓  Resilient Fallback: If LLM is rate-limited (HTTP 429), deterministic statutory templates ensure 100% compliant persisted findings.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5. PROPOSED TECHNICAL APPROACH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8-Stage Forensic Pipeline &amp; Append-Only Architecture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End-to-end data flow with integer minor-unit arithmetic, lease fencing, and cryptographic custody.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01 · Discovery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TinyFish Search API queries merchant terms, pricing policies, and return links.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B82F6"/>
                </a:solidFill>
              </a:defRPr>
            </a:pPr>
            <a:r>
              <a:t>02 · Policy Extract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TinyFish Fetch API extracts clean markdown policies with defined cache TTLs.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8B5CF6"/>
                </a:solidFill>
              </a:defRPr>
            </a:pPr>
            <a:r>
              <a:t>03 · Navigate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Autonomous web agent navigates funnel with stop-before-payment guardrail.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04 · Redact &amp; Hash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Pillow masks bottom-5% and form PII; calculates SHA-256 image digest.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05 · Reconcile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Integer paise check: Subtotal + Charges + Taxes - Discounts == Payable.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3931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4069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B82F6"/>
                </a:solidFill>
              </a:defRPr>
            </a:pPr>
            <a:r>
              <a:t>06 · Diff Engine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Matched-pair engine computes 5 diff types across isolated dimensions.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931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69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07 · CCPA Detect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Deterministic rules match Annex 1.8 (Drip), 1.2 (Sneak), 1.1 (Urgency).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3931920"/>
            <a:ext cx="2514600" cy="2011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416" y="4069080"/>
            <a:ext cx="2240280" cy="1737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</a:defRPr>
            </a:pPr>
            <a:r>
              <a:t>08 · Report &amp; Draft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Compiles self-contained HTML evidence report and editable NCH grievance.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6. PROPOSED TINYFISH INTEGRATION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In the Primary Path Across the Complete TinyFish API Surface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TinyFish is central to Checkout Radar across Search, Fetch, Agent, and Profiles APIs.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105156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8686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8BDF8"/>
                </a:solidFill>
              </a:defRPr>
            </a:pPr>
            <a:r>
              <a:t>🔍 TinyFish Search API  ·  Merchant Terms &amp; Policy Discovery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Queries merchant terms and fee declarations prior to audit.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5120640" cy="105156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4754880" cy="8686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📄 TinyFish Fetch API  ·  Clean Markdown Extraction with TTL Cache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Extracts clean policy text with intelligent caching (ttl: 0 vs ttl: 3600).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23360"/>
            <a:ext cx="4754880" cy="8686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</a:defRPr>
            </a:pPr>
            <a:r>
              <a:t>🤖 TinyFish Agent API  ·  Cloud Browser Navigation (Stop-Before-Payment)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Executes multi-step browser automations under strict safety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5120640" cy="105156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4754880" cy="8686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8B5CF6"/>
                </a:solidFill>
              </a:defRPr>
            </a:pPr>
            <a:r>
              <a:t>🛡️ TinyFish Profiles API  ·  State-Isolated Browser Contexts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Spawns isolated profiles for returning conditions, preventing cookie leakage.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_clean_audit_viewport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19072"/>
            <a:ext cx="5065776" cy="40599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590702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Empirically verified live audit of Headphone Zone: 51 provider calls logged, 0 hidden fees, and verified clean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7. EXPECTED IMPACT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Quantified Consumer, Legal, and Technical Outcomes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Measurable results proven across synthetic benchmarks and live merchant audits.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664208"/>
            <a:ext cx="2295144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38BDF8"/>
                </a:solidFill>
              </a:defRPr>
            </a:pPr>
            <a:r>
              <a:t>45m ➔ 30s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Grievance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64208"/>
            <a:ext cx="2295144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0B981"/>
                </a:solidFill>
              </a:defRPr>
            </a:pPr>
            <a:r>
              <a:t>100% / 100%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Precision &amp; Recall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664208"/>
            <a:ext cx="2295144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3B82F6"/>
                </a:solidFill>
              </a:defRPr>
            </a:pPr>
            <a:r>
              <a:t>0 Secrets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Zero-Exfiltration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00200"/>
            <a:ext cx="2514600" cy="8686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15984" y="1664208"/>
            <a:ext cx="2295144" cy="73152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8B5CF6"/>
                </a:solidFill>
              </a:defRPr>
            </a:pPr>
            <a:r>
              <a:t>SHA-256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Cryptographic Custody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5120640" cy="34747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663440" cy="31089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</a:defRPr>
            </a:pPr>
            <a:r>
              <a:t>Tangible Real-World Outcomes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98% Faster Grievance Redressal: Transforms a frustrating 45-minute manual drafting ordeal into a 30-second automated NCH export.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Zero False Accusations: 100% precision across 45 designed benchmark scenarios guarantees honest merchants are never falsely penalized.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Court-Admissible Chain of Custody: Every observation is backed by a 64-character SHA-256 digest of the unscaled viewport capture.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Total Privacy Protection: API credentials stored backend-only; Pillow redaction masks form fields and footers automatically.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212080" cy="34747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7_lightbox_modal_open_1440x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724912"/>
            <a:ext cx="5065776" cy="3328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6181344"/>
            <a:ext cx="52120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000" i="1">
                <a:solidFill>
                  <a:srgbClr val="94A3B8"/>
                </a:solidFill>
                <a:latin typeface="Arial"/>
              </a:defRPr>
            </a:pPr>
            <a:r>
              <a:t>Full-Resolution Lightbox Modal: Unscaled viewport inspection with immutable 64-character SHA-256 cryptographic digest.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8. FEASIBILITY &amp; IMPLEMENTATION READINESS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Production-Ready Stack with Zero Setup Friction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Zero-barrier demonstration: judges can clone, test, and run audits immediately with zero cloud costs.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🚀 ONE-COMMAND LAUNCH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Zero Setup Friction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Cross-platform launcher script (./start.sh or start.cmd).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Automatic pre-flight diagnostics, .env provisioning, and healthcheck sync.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Dynamic host port discovery eliminates port conflict errors.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Docker Compose orchestrates harness, API, and worker in &lt;30s.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</a:defRPr>
            </a:pPr>
            <a:r>
              <a:t>🛡️ DETERMINISTIC MOCK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100% Free Offline Mode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Runs full audits, tests, and demo flows without consuming TinyFish or LLM credits.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Includes 5-variant reproducible merchant server container.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114 unit, integration, and concurrency tests pass locally in &lt;2 seconds.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Pre-seeded demonstration audits populate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t>💰 ECONOMICAL SCALE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Cost-Efficient Live Runs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A full Quick 4-run condition matrix audit costs under $0.20 on TinyFish cloud.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Monotonic lease recovery prevents duplicate submissions on failure.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TTL caching on Fetch API prevents redundant policy crawls.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9. FUTURE SCOPE &amp; ROADMAP</a:t>
            </a:r>
          </a:p>
          <a:p>
            <a:pPr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Scaling from Hackathon MVP to National Transparency Infrastructure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Strategic expansion across real-time consumer warnings, regulatory APIs, and global jurisdictions.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</a:defRPr>
            </a:pPr>
            <a:r>
              <a:t>PHASE 1 · NEAR-TERM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Live Consumer Browser Extension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Chrome/Firefox extension auditing checkout funnels in the background while users shop.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Instant warning badges appear when a hidden fee or pre-ticked add-on is detected.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One-click 'Report to Checkout Radar' crowdsourced fee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B82F6"/>
                </a:solidFill>
              </a:defRPr>
            </a:pPr>
            <a:r>
              <a:t>PHASE 2 · MID-TERM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Direct NCH API Integration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Direct integration with National Consumer Helpline and e-Daakhil consumer court APIs.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Automated grievance filing with digitally signed, SHA-256 hashed evidence bundles.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Enables consumer organizations to file class-action transparency complaints.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331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8B5CF6"/>
                </a:solidFill>
              </a:defRPr>
            </a:pPr>
            <a:r>
              <a:t>PHASE 3 · LONG-TERM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Cross-Border 7-Nation Audits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Deploy residential browser proxies across 7 jurisdictions (US, UK, EU, Canada, Australia, Japan, India).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Audit geographic price discrimination, currency conversion drip fees, and international shipping surges.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•  Compliance engine mapped to EU DSA and US FTC Dark Pattern guidelines.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Checkout Radar · AZINHACK 2026 Presentation ·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
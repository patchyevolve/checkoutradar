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5303520" cy="411480"/>
          </a:xfrm>
          <a:prstGeom prst="roundRect">
            <a:avLst/>
          </a:prstGeom>
          <a:solidFill>
            <a:srgbClr val="172554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AZINHACK 2026 · INNOVATION &amp; CONSUMER TRANSPARENCY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2011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4400" b="1">
                <a:solidFill>
                  <a:srgbClr val="FFFFFF"/>
                </a:solidFill>
                <a:latin typeface="Arial"/>
              </a:defRPr>
            </a:pPr>
            <a:r>
              <a:t>CHECKOUT RADAR</a:t>
            </a:r>
          </a:p>
          <a:p>
            <a:pPr>
              <a:spcAft>
                <a:spcPts val="1000"/>
              </a:spcAft>
              <a:defRPr sz="2200" b="1">
                <a:solidFill>
                  <a:srgbClr val="38BDF8"/>
                </a:solidFill>
                <a:latin typeface="Arial"/>
              </a:defRPr>
            </a:pPr>
            <a:r>
              <a:t>Outside-In Checkout Flow Auditor &amp; CCPA Dark Pattern Detector</a:t>
            </a:r>
          </a:p>
          <a:p>
            <a:pPr>
              <a:defRPr sz="1400">
                <a:solidFill>
                  <a:srgbClr val="CBD5E1"/>
                </a:solidFill>
                <a:latin typeface="Arial"/>
              </a:defRPr>
            </a:pPr>
            <a:r>
              <a:t>Deploying autonomous TinyFish browser agents across controlled condition matrices to turn subjective dark pattern claims into reproducible, cryptographic, screenshot-backed empirical evidence.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2514600" cy="1463040"/>
          </a:xfrm>
          <a:prstGeom prst="roundRect">
            <a:avLst/>
          </a:prstGeom>
          <a:solidFill>
            <a:srgbClr val="0E1626"/>
          </a:solidFill>
          <a:ln w="19050">
            <a:solidFill>
              <a:srgbClr val="23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069080"/>
            <a:ext cx="2240280" cy="11887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10B981"/>
                </a:solidFill>
                <a:latin typeface="Arial"/>
              </a:defRPr>
            </a:pPr>
            <a:r>
              <a:t>114 / 114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Tests Passing (CI Tested)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3931920"/>
            <a:ext cx="2514600" cy="1463040"/>
          </a:xfrm>
          <a:prstGeom prst="roundRect">
            <a:avLst/>
          </a:prstGeom>
          <a:solidFill>
            <a:srgbClr val="0E1626"/>
          </a:solidFill>
          <a:ln w="19050">
            <a:solidFill>
              <a:srgbClr val="23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2" y="4069080"/>
            <a:ext cx="2240280" cy="11887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38BDF8"/>
                </a:solidFill>
                <a:latin typeface="Arial"/>
              </a:defRPr>
            </a:pPr>
            <a:r>
              <a:t>3 / 3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Demo Flows Verified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3931920"/>
            <a:ext cx="2514600" cy="1463040"/>
          </a:xfrm>
          <a:prstGeom prst="roundRect">
            <a:avLst/>
          </a:prstGeom>
          <a:solidFill>
            <a:srgbClr val="0E1626"/>
          </a:solidFill>
          <a:ln w="19050">
            <a:solidFill>
              <a:srgbClr val="23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4069080"/>
            <a:ext cx="2240280" cy="11887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3B82F6"/>
                </a:solidFill>
                <a:latin typeface="Arial"/>
              </a:defRPr>
            </a:pPr>
            <a:r>
              <a:t>SHA-256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Cryptographic Chain of Custody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3931920"/>
            <a:ext cx="2514600" cy="1463040"/>
          </a:xfrm>
          <a:prstGeom prst="roundRect">
            <a:avLst/>
          </a:prstGeom>
          <a:solidFill>
            <a:srgbClr val="0E1626"/>
          </a:solidFill>
          <a:ln w="19050">
            <a:solidFill>
              <a:srgbClr val="23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43416" y="4069080"/>
            <a:ext cx="2240280" cy="11887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8B5CF6"/>
                </a:solidFill>
                <a:latin typeface="Arial"/>
              </a:defRPr>
            </a:pPr>
            <a:r>
              <a:t>Zero Credits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Deterministic Offline Mock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Checkout Radar · AZINHACK 2026 Submission · Slide 1 of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1. PROBLEM STATEMENT</a:t>
            </a:r>
          </a:p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The Hidden Fee Epidemic &amp; The Outside-In Evidence Gap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Indian consumers face systematic late-stage fee disclosure without any tooling for admissible legal proof.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0E1626"/>
          </a:solidFill>
          <a:ln w="19050">
            <a:solidFill>
              <a:srgbClr val="23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2926080" cy="3931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EF4444"/>
                </a:solidFill>
                <a:latin typeface="Arial"/>
              </a:defRPr>
            </a:pPr>
            <a:r>
              <a:t>💸 Late-Stage Fee Inflation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The Drip Pricing Trap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Surge fees, handling charges, packaging levies, and convenience fees appear only on the final payment screen.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Consumers invest 10–15 minutes navigating products and entering addresses before the true payable price is revealed.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Violates Section 18 of the Consumer Protection Act, 2019.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0E1626"/>
          </a:solidFill>
          <a:ln w="19050">
            <a:solidFill>
              <a:srgbClr val="23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74520"/>
            <a:ext cx="2926080" cy="3931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59E0B"/>
                </a:solidFill>
                <a:latin typeface="Arial"/>
              </a:defRPr>
            </a:pPr>
            <a:r>
              <a:t>⚖️ Regulatory Mandate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CCPA November 2023 Guidelines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CCPA officially notified 13 prohibited dark patterns on 30 Nov 2023.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Annex 1.8 strictly bans Drip Pricing (concealing mandatory costs).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Annex 1.2 bans Basket Sneaking (pre-ticked add-ons).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Annex 1.1 bans False Urgency (falsely implying urgency or resetting timers).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0E1626"/>
          </a:solidFill>
          <a:ln w="19050">
            <a:solidFill>
              <a:srgbClr val="23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74520"/>
            <a:ext cx="2926080" cy="3931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B82F6"/>
                </a:solidFill>
                <a:latin typeface="Arial"/>
              </a:defRPr>
            </a:pPr>
            <a:r>
              <a:t>🔍 The Evidence Bottleneck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Lack of Empirical Tooling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Existing audit tools cater exclusively to internal platform teams.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Consumers, researchers, and journalists cannot capture legally admissible, reproducible proof.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Single-page apps (SPAs) defeat static web scrapers, leaving deceptive checkouts unmonitored.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Checkout Radar · AZINHACK 2026 Submission · Slide 2 of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2. PROPOSED SOLUTION</a:t>
            </a:r>
          </a:p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Matched-Pair Differential Auditing Engine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Turning subjective allegations into controlled, reproducible, screenshot-backed empirical proof.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572000" cy="4389120"/>
          </a:xfrm>
          <a:prstGeom prst="roundRect">
            <a:avLst/>
          </a:prstGeom>
          <a:solidFill>
            <a:srgbClr val="0E1626"/>
          </a:solidFill>
          <a:ln w="19050">
            <a:solidFill>
              <a:srgbClr val="23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4114800" cy="3931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38BDF8"/>
                </a:solidFill>
                <a:latin typeface="Arial"/>
              </a:defRPr>
            </a:pPr>
            <a:r>
              <a:t>Controlled Scientific Method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✓  Not a scraper: Checkout Radar executes controlled behavioral experiments.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✓  Differential Principle: Compares two runs that differ in exactly one requested dimension while holding all other controls fixed.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✓  Integer Minor-Unit Math: Reconciles all charges in integer paise (₹0.01) to eliminate rounding errors.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✓  The Cart Invariant: Separates Recipe Family from Cart Instance. Quantity changes do NOT trigger false price variance alarms.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✓  Cryptographic Custody: 1280×720 viewports redacted with Pillow and hashed with SHA-256.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645920"/>
            <a:ext cx="5852160" cy="960120"/>
          </a:xfrm>
          <a:prstGeom prst="roundRect">
            <a:avLst/>
          </a:prstGeom>
          <a:solidFill>
            <a:srgbClr val="0E1626"/>
          </a:solidFill>
          <a:ln w="19050">
            <a:solidFill>
              <a:srgbClr val="23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0" y="1755648"/>
            <a:ext cx="5486400" cy="740664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📍 Location Effect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Tests Tier-1 Metro vs Tier-2/3 Pincodes (e.g. 110001 vs 492001)  |  Controls: Session state, cart tier, recipe family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2788920"/>
            <a:ext cx="5852160" cy="960120"/>
          </a:xfrm>
          <a:prstGeom prst="roundRect">
            <a:avLst/>
          </a:prstGeom>
          <a:solidFill>
            <a:srgbClr val="0E1626"/>
          </a:solidFill>
          <a:ln w="19050">
            <a:solidFill>
              <a:srgbClr val="23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0" y="2898648"/>
            <a:ext cx="5486400" cy="740664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3B82F6"/>
                </a:solidFill>
                <a:latin typeface="Arial"/>
              </a:defRPr>
            </a:pPr>
            <a:r>
              <a:t>👤 Session Effect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Tests Fresh Guest Profile vs Returning Customer Profile  |  Controls: Delivery pincode, cart tier, recipe family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3931920"/>
            <a:ext cx="5852160" cy="960120"/>
          </a:xfrm>
          <a:prstGeom prst="roundRect">
            <a:avLst/>
          </a:prstGeom>
          <a:solidFill>
            <a:srgbClr val="0E1626"/>
          </a:solidFill>
          <a:ln w="19050">
            <a:solidFill>
              <a:srgbClr val="23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4041648"/>
            <a:ext cx="5486400" cy="740664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🛒 Cart Threshold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Tests Above Threshold (₹998) vs Below Threshold (₹499)  |  Controls: Delivery pincode, session state, unit price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5074920"/>
            <a:ext cx="5852160" cy="960120"/>
          </a:xfrm>
          <a:prstGeom prst="roundRect">
            <a:avLst/>
          </a:prstGeom>
          <a:solidFill>
            <a:srgbClr val="0E1626"/>
          </a:solidFill>
          <a:ln w="19050">
            <a:solidFill>
              <a:srgbClr val="23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5184648"/>
            <a:ext cx="5486400" cy="740664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8B5CF6"/>
                </a:solidFill>
                <a:latin typeface="Arial"/>
              </a:defRPr>
            </a:pPr>
            <a:r>
              <a:t>⏱️ Temporal Drift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Tests Observation at t0 vs Re-observation at t1 across time  |  Controls: All factors and cart recipe held fixed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Checkout Radar · AZINHACK 2026 Submission · Slide 3 of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3. TARGET USERS OR USE CASE</a:t>
            </a:r>
          </a:p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Empowering Stakeholders Across the Consumer Protection Ecosystem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Three primary personas benefiting from automated outside-in checkout transparency.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0E1626"/>
          </a:solidFill>
          <a:ln w="19050">
            <a:solidFill>
              <a:srgbClr val="23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2926080" cy="3931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t>Consumers &amp; Advocates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Grievance Filing &amp; NCH Redressal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Generate ready-to-file National Consumer Helpline (NCH) grievance drafts.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Pre-filled with merchant identity, exact fee breakdown, and statutory CCPA citations.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Includes tamper-evident SHA-256 evidence links that merchants cannot dispute.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Reduces complaint preparation time from 45 minutes to 30 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0E1626"/>
          </a:solidFill>
          <a:ln w="19050">
            <a:solidFill>
              <a:srgbClr val="23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74520"/>
            <a:ext cx="2926080" cy="3931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B82F6"/>
                </a:solidFill>
                <a:latin typeface="Arial"/>
              </a:defRPr>
            </a:pPr>
            <a:r>
              <a:t>Investigative Media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Empirical Exposés &amp; Research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Empirical, reproducible datasets on fee inflation, surge charges, and geographic discrimination.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Export self-contained, offline HTML dossiers complete with high-res viewports.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Enables data-driven investigative reporting on quick-commerce and retail cart practices.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0E1626"/>
          </a:solidFill>
          <a:ln w="19050">
            <a:solidFill>
              <a:srgbClr val="23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74520"/>
            <a:ext cx="2926080" cy="3931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  <a:latin typeface="Arial"/>
              </a:defRPr>
            </a:pPr>
            <a:r>
              <a:t>Enterprise Compliance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Proactive Pre-Regulatory Auditing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Outside-in regression testing for e-commerce brands before regulatory scrutiny.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Audit internal Shopify, WooCommerce, or custom storefronts against CCPA 2023 rules.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Identify unintended dark patterns introduced by third-party checkout plugins or apps.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Checkout Radar · AZINHACK 2026 Submission · Slide 4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4. ROLE OF MACHINE LEARNING OR AI</a:t>
            </a:r>
          </a:p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Hybrid Architecture: Deterministic First, AI Last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AI navigates and contextualizes; deterministic engines compute mathematical proof.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0E1626"/>
          </a:solidFill>
          <a:ln w="19050">
            <a:solidFill>
              <a:srgbClr val="23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4754880" cy="3931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38BDF8"/>
                </a:solidFill>
                <a:latin typeface="Arial"/>
              </a:defRPr>
            </a:pPr>
            <a:r>
              <a:t>Autonomous Web Agent AI (TinyFish)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✓  Complex Visual DOM Navigation: Navigates modern React, Vue, Shopify, and headless checkout funnels without site-specific scrapers.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✓  Natural Human Emulation: Automatically solves variant selection, opens cart drawers, fills guest address forms, and handles modals.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✓  Hardened Safety Invariant: Negative prompts enforce a strict STOP BEFORE PAYMENT authorization boundary.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✓  Zero Hallucination in Pricing: Agent captures raw 1280×720 viewports and itemized DOM strings; does not invent fees.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0E1626"/>
          </a:solidFill>
          <a:ln w="19050">
            <a:solidFill>
              <a:srgbClr val="23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74519"/>
            <a:ext cx="4754880" cy="3931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3B82F6"/>
                </a:solidFill>
                <a:latin typeface="Arial"/>
              </a:defRPr>
            </a:pPr>
            <a:r>
              <a:t>Schema-Guarded LLM Contextualizer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✓  Downstream Explanation Only: LLM never detects or invents findings; it only translates candidate diffs into statutory explanations.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✓  Strict Non-Judicial Filter: Intercepts prohibited adjudicative terms ('guilty', 'unlawful', 'convicted') while preserving disclaimers.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✓  Evidence Grounding Engine: Rejects claims of fee absence unless substantiated by explicit not_observed_verified records.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✓  Resilient Fallback: If LLM is rate-limited (HTTP 429), deterministic statutory templates ensure 100% compliant persisted findings.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Checkout Radar · AZINHACK 2026 Submission · Slide 5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5. PROPOSED TECHNICAL APPROACH</a:t>
            </a:r>
          </a:p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8-Stage Forensic Pipeline &amp; Append-Only Architecture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End-to-end data flow with integer minor-unit arithmetic, lease fencing, and cryptographic custody.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14600" cy="2011680"/>
          </a:xfrm>
          <a:prstGeom prst="roundRect">
            <a:avLst/>
          </a:prstGeom>
          <a:solidFill>
            <a:srgbClr val="0E1626"/>
          </a:solidFill>
          <a:ln w="19050">
            <a:solidFill>
              <a:srgbClr val="23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2240280" cy="17373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38BDF8"/>
                </a:solidFill>
                <a:latin typeface="Arial"/>
              </a:defRPr>
            </a:pPr>
            <a:r>
              <a:t>01 · Discovery</a:t>
            </a:r>
          </a:p>
          <a:p>
            <a:pPr>
              <a:defRPr sz="1100">
                <a:solidFill>
                  <a:srgbClr val="CBD5E1"/>
                </a:solidFill>
                <a:latin typeface="Arial"/>
              </a:defRPr>
            </a:pPr>
            <a:r>
              <a:t>TinyFish Search API queries merchant terms, pricing policies, and return links.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645920"/>
            <a:ext cx="2514600" cy="2011680"/>
          </a:xfrm>
          <a:prstGeom prst="roundRect">
            <a:avLst/>
          </a:prstGeom>
          <a:solidFill>
            <a:srgbClr val="0E1626"/>
          </a:solidFill>
          <a:ln w="19050">
            <a:solidFill>
              <a:srgbClr val="23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93592" y="1783080"/>
            <a:ext cx="2240280" cy="17373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3B82F6"/>
                </a:solidFill>
                <a:latin typeface="Arial"/>
              </a:defRPr>
            </a:pPr>
            <a:r>
              <a:t>02 · Extract</a:t>
            </a:r>
          </a:p>
          <a:p>
            <a:pPr>
              <a:defRPr sz="1100">
                <a:solidFill>
                  <a:srgbClr val="CBD5E1"/>
                </a:solidFill>
                <a:latin typeface="Arial"/>
              </a:defRPr>
            </a:pPr>
            <a:r>
              <a:t>TinyFish Fetch API extracts clean markdown policies with defined cache TTLs.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645920"/>
            <a:ext cx="2514600" cy="2011680"/>
          </a:xfrm>
          <a:prstGeom prst="roundRect">
            <a:avLst/>
          </a:prstGeom>
          <a:solidFill>
            <a:srgbClr val="0E1626"/>
          </a:solidFill>
          <a:ln w="19050">
            <a:solidFill>
              <a:srgbClr val="23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8504" y="1783080"/>
            <a:ext cx="2240280" cy="17373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8B5CF6"/>
                </a:solidFill>
                <a:latin typeface="Arial"/>
              </a:defRPr>
            </a:pPr>
            <a:r>
              <a:t>03 · Navigate</a:t>
            </a:r>
          </a:p>
          <a:p>
            <a:pPr>
              <a:defRPr sz="1100">
                <a:solidFill>
                  <a:srgbClr val="CBD5E1"/>
                </a:solidFill>
                <a:latin typeface="Arial"/>
              </a:defRPr>
            </a:pPr>
            <a:r>
              <a:t>Autonomous web agent executes funnel with stop-before-payment guardrail.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645920"/>
            <a:ext cx="2514600" cy="2011680"/>
          </a:xfrm>
          <a:prstGeom prst="roundRect">
            <a:avLst/>
          </a:prstGeom>
          <a:solidFill>
            <a:srgbClr val="0E1626"/>
          </a:solidFill>
          <a:ln w="19050">
            <a:solidFill>
              <a:srgbClr val="23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43416" y="1783080"/>
            <a:ext cx="2240280" cy="17373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0B981"/>
                </a:solidFill>
                <a:latin typeface="Arial"/>
              </a:defRPr>
            </a:pPr>
            <a:r>
              <a:t>04 · Redact &amp; Hash</a:t>
            </a:r>
          </a:p>
          <a:p>
            <a:pPr>
              <a:defRPr sz="1100">
                <a:solidFill>
                  <a:srgbClr val="CBD5E1"/>
                </a:solidFill>
                <a:latin typeface="Arial"/>
              </a:defRPr>
            </a:pPr>
            <a:r>
              <a:t>Pillow masks bottom-5% and form PII; calculates SHA-256 image digest.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2514600" cy="2011680"/>
          </a:xfrm>
          <a:prstGeom prst="roundRect">
            <a:avLst/>
          </a:prstGeom>
          <a:solidFill>
            <a:srgbClr val="0E1626"/>
          </a:solidFill>
          <a:ln w="19050">
            <a:solidFill>
              <a:srgbClr val="23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069080"/>
            <a:ext cx="2240280" cy="17373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0B981"/>
                </a:solidFill>
                <a:latin typeface="Arial"/>
              </a:defRPr>
            </a:pPr>
            <a:r>
              <a:t>05 · Reconcile</a:t>
            </a:r>
          </a:p>
          <a:p>
            <a:pPr>
              <a:defRPr sz="1100">
                <a:solidFill>
                  <a:srgbClr val="CBD5E1"/>
                </a:solidFill>
                <a:latin typeface="Arial"/>
              </a:defRPr>
            </a:pPr>
            <a:r>
              <a:t>Strict minor-unit math check: Subtotal + Charges + Taxes - Discounts = Payable.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6432" y="3931920"/>
            <a:ext cx="2514600" cy="2011680"/>
          </a:xfrm>
          <a:prstGeom prst="roundRect">
            <a:avLst/>
          </a:prstGeom>
          <a:solidFill>
            <a:srgbClr val="0E1626"/>
          </a:solidFill>
          <a:ln w="19050">
            <a:solidFill>
              <a:srgbClr val="23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3592" y="4069080"/>
            <a:ext cx="2240280" cy="17373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3B82F6"/>
                </a:solidFill>
                <a:latin typeface="Arial"/>
              </a:defRPr>
            </a:pPr>
            <a:r>
              <a:t>06 · Diff Engine</a:t>
            </a:r>
          </a:p>
          <a:p>
            <a:pPr>
              <a:defRPr sz="1100">
                <a:solidFill>
                  <a:srgbClr val="CBD5E1"/>
                </a:solidFill>
                <a:latin typeface="Arial"/>
              </a:defRPr>
            </a:pPr>
            <a:r>
              <a:t>Matched-pair analysis evaluates 5 diff types across isolated dimensions.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3931920"/>
            <a:ext cx="2514600" cy="2011680"/>
          </a:xfrm>
          <a:prstGeom prst="roundRect">
            <a:avLst/>
          </a:prstGeom>
          <a:solidFill>
            <a:srgbClr val="0E1626"/>
          </a:solidFill>
          <a:ln w="19050">
            <a:solidFill>
              <a:srgbClr val="23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18504" y="4069080"/>
            <a:ext cx="2240280" cy="17373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EF4444"/>
                </a:solidFill>
                <a:latin typeface="Arial"/>
              </a:defRPr>
            </a:pPr>
            <a:r>
              <a:t>07 · Detect</a:t>
            </a:r>
          </a:p>
          <a:p>
            <a:pPr>
              <a:defRPr sz="1100">
                <a:solidFill>
                  <a:srgbClr val="CBD5E1"/>
                </a:solidFill>
                <a:latin typeface="Arial"/>
              </a:defRPr>
            </a:pPr>
            <a:r>
              <a:t>Deterministic rules match CCPA Annex 1.8 (Drip), 1.2 (Sneak), 1.1 (Urgency).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3931920"/>
            <a:ext cx="2514600" cy="2011680"/>
          </a:xfrm>
          <a:prstGeom prst="roundRect">
            <a:avLst/>
          </a:prstGeom>
          <a:solidFill>
            <a:srgbClr val="0E1626"/>
          </a:solidFill>
          <a:ln w="19050">
            <a:solidFill>
              <a:srgbClr val="23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43416" y="4069080"/>
            <a:ext cx="2240280" cy="17373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38BDF8"/>
                </a:solidFill>
                <a:latin typeface="Arial"/>
              </a:defRPr>
            </a:pPr>
            <a:r>
              <a:t>08 · Report</a:t>
            </a:r>
          </a:p>
          <a:p>
            <a:pPr>
              <a:defRPr sz="1100">
                <a:solidFill>
                  <a:srgbClr val="CBD5E1"/>
                </a:solidFill>
                <a:latin typeface="Arial"/>
              </a:defRPr>
            </a:pPr>
            <a:r>
              <a:t>Generates self-contained HTML evidence dossier and NCH complaint draft.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Checkout Radar · AZINHACK 2026 Submission · Slide 6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6. PROPOSED TINYFISH INTEGRATION</a:t>
            </a:r>
          </a:p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Deep Platform Integration Across the Complete API Surface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TinyFish is in the main execution path across Search, Fetch, Agent, and Profiles APIs.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057400"/>
          </a:xfrm>
          <a:prstGeom prst="roundRect">
            <a:avLst/>
          </a:prstGeom>
          <a:solidFill>
            <a:srgbClr val="0E1626"/>
          </a:solidFill>
          <a:ln w="19050">
            <a:solidFill>
              <a:srgbClr val="23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4846320" cy="1728216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38BDF8"/>
                </a:solidFill>
                <a:latin typeface="Arial"/>
              </a:defRPr>
            </a:pPr>
            <a:r>
              <a:t>🔍 TinyFish Search API</a:t>
            </a:r>
          </a:p>
          <a:p>
            <a:pPr>
              <a:spcAft>
                <a:spcPts val="6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Merchant Terms &amp; Policy Discovery</a:t>
            </a:r>
          </a:p>
          <a:p>
            <a:pPr>
              <a:defRPr sz="1100">
                <a:solidFill>
                  <a:srgbClr val="CBD5E1"/>
                </a:solidFill>
                <a:latin typeface="Arial"/>
              </a:defRPr>
            </a:pPr>
            <a:r>
              <a:t>Discovers merchant declared terms of service, fee disclosures, and return policies during audit initiation without manual URL hunting.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057400"/>
          </a:xfrm>
          <a:prstGeom prst="roundRect">
            <a:avLst/>
          </a:prstGeom>
          <a:solidFill>
            <a:srgbClr val="0E1626"/>
          </a:solidFill>
          <a:ln w="19050">
            <a:solidFill>
              <a:srgbClr val="23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10512"/>
            <a:ext cx="4846320" cy="1728216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3B82F6"/>
                </a:solidFill>
                <a:latin typeface="Arial"/>
              </a:defRPr>
            </a:pPr>
            <a:r>
              <a:t>📄 TinyFish Fetch API</a:t>
            </a:r>
          </a:p>
          <a:p>
            <a:pPr>
              <a:spcAft>
                <a:spcPts val="6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Clean Markdown Extraction with TTL Caching</a:t>
            </a:r>
          </a:p>
          <a:p>
            <a:pPr>
              <a:defRPr sz="1100">
                <a:solidFill>
                  <a:srgbClr val="CBD5E1"/>
                </a:solidFill>
                <a:latin typeface="Arial"/>
              </a:defRPr>
            </a:pPr>
            <a:r>
              <a:t>Extracts clean policy text with intelligent caching: ttl: 0 for dynamic checkout flows, ttl: 3600 for static terms to conserve API quota.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40"/>
            <a:ext cx="5212080" cy="2057400"/>
          </a:xfrm>
          <a:prstGeom prst="roundRect">
            <a:avLst/>
          </a:prstGeom>
          <a:solidFill>
            <a:srgbClr val="0E1626"/>
          </a:solidFill>
          <a:ln w="19050">
            <a:solidFill>
              <a:srgbClr val="23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42232"/>
            <a:ext cx="4846320" cy="1728216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🤖 TinyFish Agent API</a:t>
            </a:r>
          </a:p>
          <a:p>
            <a:pPr>
              <a:spcAft>
                <a:spcPts val="6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Cloud Browser Navigation (Stop-Before-Payment)</a:t>
            </a:r>
          </a:p>
          <a:p>
            <a:pPr>
              <a:defRPr sz="1100">
                <a:solidFill>
                  <a:srgbClr val="CBD5E1"/>
                </a:solidFill>
                <a:latin typeface="Arial"/>
              </a:defRPr>
            </a:pPr>
            <a:r>
              <a:t>Executes multi-step browser automations across product, cart, and summary states under strict CCPA safety guardrails.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77640"/>
            <a:ext cx="5212080" cy="2057400"/>
          </a:xfrm>
          <a:prstGeom prst="roundRect">
            <a:avLst/>
          </a:prstGeom>
          <a:solidFill>
            <a:srgbClr val="0E1626"/>
          </a:solidFill>
          <a:ln w="19050">
            <a:solidFill>
              <a:srgbClr val="23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142232"/>
            <a:ext cx="4846320" cy="1728216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8B5CF6"/>
                </a:solidFill>
                <a:latin typeface="Arial"/>
              </a:defRPr>
            </a:pPr>
            <a:r>
              <a:t>🛡️ TinyFish Profiles API</a:t>
            </a:r>
          </a:p>
          <a:p>
            <a:pPr>
              <a:spcAft>
                <a:spcPts val="6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State-Isolated Browser Contexts</a:t>
            </a:r>
          </a:p>
          <a:p>
            <a:pPr>
              <a:defRPr sz="1100">
                <a:solidFill>
                  <a:srgbClr val="CBD5E1"/>
                </a:solidFill>
                <a:latin typeface="Arial"/>
              </a:defRPr>
            </a:pPr>
            <a:r>
              <a:t>Spawns isolated browser context profiles for returning visitor conditions, preventing cookie and session leakage between matrix runs.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Checkout Radar · AZINHACK 2026 Submission · Slide 7 of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7. EXPECTED IMPACT</a:t>
            </a:r>
          </a:p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Quantified Consumer, Legal, and Technical Outcomes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Real-world impact metrics measured on synthetic benchmarks and live merchant audits.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057400"/>
          </a:xfrm>
          <a:prstGeom prst="roundRect">
            <a:avLst/>
          </a:prstGeom>
          <a:solidFill>
            <a:srgbClr val="0E1626"/>
          </a:solidFill>
          <a:ln w="19050">
            <a:solidFill>
              <a:srgbClr val="23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10512"/>
            <a:ext cx="4754880" cy="1728216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38BDF8"/>
                </a:solidFill>
                <a:latin typeface="Arial"/>
              </a:defRPr>
            </a:pPr>
            <a:r>
              <a:t>45 min ➔ 30 sec</a:t>
            </a:r>
          </a:p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Consumer Grievance Velocity</a:t>
            </a:r>
          </a:p>
          <a:p>
            <a:pPr>
              <a:defRPr sz="1100">
                <a:solidFill>
                  <a:srgbClr val="CBD5E1"/>
                </a:solidFill>
                <a:latin typeface="Arial"/>
              </a:defRPr>
            </a:pPr>
            <a:r>
              <a:t>Reduces the time to document, verify, and draft an actionable CCPA dark pattern complaint from 45 minutes to 30 seconds with 1-click export.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057400"/>
          </a:xfrm>
          <a:prstGeom prst="roundRect">
            <a:avLst/>
          </a:prstGeom>
          <a:solidFill>
            <a:srgbClr val="0E1626"/>
          </a:solidFill>
          <a:ln w="19050">
            <a:solidFill>
              <a:srgbClr val="23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10512"/>
            <a:ext cx="4754880" cy="1728216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10B981"/>
                </a:solidFill>
                <a:latin typeface="Arial"/>
              </a:defRPr>
            </a:pPr>
            <a:r>
              <a:t>100% Precision</a:t>
            </a:r>
          </a:p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Algorithmic Conformance</a:t>
            </a:r>
          </a:p>
          <a:p>
            <a:pPr>
              <a:defRPr sz="1100">
                <a:solidFill>
                  <a:srgbClr val="CBD5E1"/>
                </a:solidFill>
                <a:latin typeface="Arial"/>
              </a:defRPr>
            </a:pPr>
            <a:r>
              <a:t>100% precision, 100% recall, and F1 = 1.000 across 45 designed scenario bundles. Zero false alarms on negative controls.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40"/>
            <a:ext cx="5212080" cy="2057400"/>
          </a:xfrm>
          <a:prstGeom prst="roundRect">
            <a:avLst/>
          </a:prstGeom>
          <a:solidFill>
            <a:srgbClr val="0E1626"/>
          </a:solidFill>
          <a:ln w="19050">
            <a:solidFill>
              <a:srgbClr val="23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142232"/>
            <a:ext cx="4754880" cy="1728216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3B82F6"/>
                </a:solidFill>
                <a:latin typeface="Arial"/>
              </a:defRPr>
            </a:pPr>
            <a:r>
              <a:t>Zero Exfiltration</a:t>
            </a:r>
          </a:p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Security &amp; Privacy Guarantee</a:t>
            </a:r>
          </a:p>
          <a:p>
            <a:pPr>
              <a:defRPr sz="1100">
                <a:solidFill>
                  <a:srgbClr val="CBD5E1"/>
                </a:solidFill>
                <a:latin typeface="Arial"/>
              </a:defRPr>
            </a:pPr>
            <a:r>
              <a:t>All API credentials stored backend-only. Raw keys never touch frontend storage, reports, or logs. Form PII redacted by Pillow.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77640"/>
            <a:ext cx="5212080" cy="2057400"/>
          </a:xfrm>
          <a:prstGeom prst="roundRect">
            <a:avLst/>
          </a:prstGeom>
          <a:solidFill>
            <a:srgbClr val="0E1626"/>
          </a:solidFill>
          <a:ln w="19050">
            <a:solidFill>
              <a:srgbClr val="23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142232"/>
            <a:ext cx="4754880" cy="1728216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8B5CF6"/>
                </a:solidFill>
                <a:latin typeface="Arial"/>
              </a:defRPr>
            </a:pPr>
            <a:r>
              <a:t>Admissible Evidence</a:t>
            </a:r>
          </a:p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Cryptographic Chain of Custody</a:t>
            </a:r>
          </a:p>
          <a:p>
            <a:pPr>
              <a:defRPr sz="1100">
                <a:solidFill>
                  <a:srgbClr val="CBD5E1"/>
                </a:solidFill>
                <a:latin typeface="Arial"/>
              </a:defRPr>
            </a:pPr>
            <a:r>
              <a:t>Every observed charge is backed by an immutable SHA-256 hashed viewport, transforming anecdotal claims into legally admissible proof.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Checkout Radar · AZINHACK 2026 Submission · Slide 8 of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8. FEASIBILITY &amp; IMPLEMENTATION READINESS</a:t>
            </a:r>
          </a:p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Production-Ready Stack with Deterministic Offline Defaults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Zero-barrier demonstration: judges can clone, test, and run audits immediately with zero cloud costs.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0E1626"/>
          </a:solidFill>
          <a:ln w="19050">
            <a:solidFill>
              <a:srgbClr val="23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2926080" cy="3931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t>🚀 One-Command Launch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Zero Setup Friction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Cross-platform launcher script (./start.sh or start.cmd).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Automatic pre-flight diagnostics, .env provisioning, and healthcheck synchronization.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Dynamic host port discovery eliminates port conflict errors.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Docker Compose orchestrates harness, API, and worker in &lt;30s.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0E1626"/>
          </a:solidFill>
          <a:ln w="19050">
            <a:solidFill>
              <a:srgbClr val="23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74520"/>
            <a:ext cx="2926080" cy="3931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  <a:latin typeface="Arial"/>
              </a:defRPr>
            </a:pPr>
            <a:r>
              <a:t>🛡️ Zero-Cost Offline Mock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100% Deterministic Replay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Runs full audits, tests, and demo flows without consuming TinyFish or LLM credits.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Includes 5-variant reproducible merchant server container.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114 unit, integration, and concurrency tests pass locally in &lt;2 seconds.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Pre-seeded demonstration audits populate instantly.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0E1626"/>
          </a:solidFill>
          <a:ln w="19050">
            <a:solidFill>
              <a:srgbClr val="23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74520"/>
            <a:ext cx="2926080" cy="3931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B82F6"/>
                </a:solidFill>
                <a:latin typeface="Arial"/>
              </a:defRPr>
            </a:pPr>
            <a:r>
              <a:t>💰 Cost-Efficient Scale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Economical Live Execution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A full Quick 4-run condition matrix audit costs under $0.20 on TinyFish cloud.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Monotonic lease recovery prevents duplicate submissions on failure.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TTL caching on Fetch API prevents redundant policy crawls.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Checkout Radar · AZINHACK 2026 Submission · Slide 9 of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  <a:latin typeface="Arial"/>
              </a:defRPr>
            </a:pPr>
            <a:r>
              <a:t>9. FUTURE SCOPE &amp; ROADMAP</a:t>
            </a:r>
          </a:p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Scaling from Hackathon MVP to National Transparency Infrastructure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Strategic expansion across real-time consumer warnings, regulatory APIs, and global jurisdictions.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0E1626"/>
          </a:solidFill>
          <a:ln w="19050">
            <a:solidFill>
              <a:srgbClr val="23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2926080" cy="3931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t>Phase 1: Real-Time Consumer Extension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Live Browser Co-Pilot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Chrome/Firefox extension auditing checkout funnels in the background while users shop.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Instant warning badges appear when a hidden fee or pre-ticked add-on is detected.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One-click 'Report to Checkout Radar' crowdsourced fee tracking.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0E1626"/>
          </a:solidFill>
          <a:ln w="19050">
            <a:solidFill>
              <a:srgbClr val="23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74520"/>
            <a:ext cx="2926080" cy="3931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B82F6"/>
                </a:solidFill>
                <a:latin typeface="Arial"/>
              </a:defRPr>
            </a:pPr>
            <a:r>
              <a:t>Phase 2: National Consumer Helpline Integration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Direct Regulatory API Pipe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Direct integration with NCH (National Consumer Helpline) and e-Daakhil consumer court APIs.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Automated grievance filing with digitally signed, SHA-256 hashed evidence bundles.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Enables consumer organizations to file class-action transparency complaints.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0E1626"/>
          </a:solidFill>
          <a:ln w="19050">
            <a:solidFill>
              <a:srgbClr val="233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74520"/>
            <a:ext cx="2926080" cy="3931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8B5CF6"/>
                </a:solidFill>
                <a:latin typeface="Arial"/>
              </a:defRPr>
            </a:pPr>
            <a:r>
              <a:t>Phase 3: Cross-Border Multi-Region Audits</a:t>
            </a:r>
          </a:p>
          <a:p>
            <a:pPr>
              <a:spcAft>
                <a:spcPts val="14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Global E-Commerce Expansion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Deploy residential browser proxies across 7 jurisdictions (US, UK, EU, Canada, Australia, Japan, India).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Audit geographic price discrimination, currency conversion drip fees, and international shipping surges.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Arial"/>
              </a:defRPr>
            </a:pPr>
            <a:r>
              <a:t>•  Compliance engine mapped to EU Digital Services Act (DSA) and US FTC Dark Pattern guidelines.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Checkout Radar · AZINHACK 2026 Submission · Slide 10 of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